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CB0B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55463-5D79-4EC4-BB1B-DA7C571CF068}" v="92" dt="2026-06-24T15:28:02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170" y="38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577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68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44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73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15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259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09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31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89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36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A40FC-60F0-4572-98E5-D677B1F68382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651CB-958D-41A7-A925-8D18B0DC0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232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526F8B55-AE78-0DCB-4A57-393747C15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842" y="14303048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6AFB843-96DE-F6F2-2EEF-710610D2F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913" y="22710458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ECDC169-A3FD-B220-2677-4C3FCC096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842" y="22749210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545823C-4ED6-9B85-E528-B61E4D37C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913" y="14303048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EEC1DD-428E-A379-32B6-4FE856B56028}"/>
              </a:ext>
            </a:extLst>
          </p:cNvPr>
          <p:cNvSpPr/>
          <p:nvPr/>
        </p:nvSpPr>
        <p:spPr>
          <a:xfrm>
            <a:off x="-375" y="0"/>
            <a:ext cx="21384000" cy="33624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u="sng" dirty="0">
                <a:solidFill>
                  <a:schemeClr val="tx1"/>
                </a:solidFill>
              </a:rPr>
              <a:t>The Use Of Genetic Algorithms In Airfoil Design And CFD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11E1A4-1B24-4B4C-0A19-5046330F4D3C}"/>
              </a:ext>
            </a:extLst>
          </p:cNvPr>
          <p:cNvSpPr/>
          <p:nvPr/>
        </p:nvSpPr>
        <p:spPr>
          <a:xfrm>
            <a:off x="5664655" y="3362400"/>
            <a:ext cx="10054314" cy="50472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800" b="1" u="sng" dirty="0">
                <a:solidFill>
                  <a:schemeClr val="tx1"/>
                </a:solidFill>
              </a:rPr>
              <a:t>Definitions</a:t>
            </a:r>
            <a:endParaRPr lang="en-GB" sz="1600" b="1" dirty="0">
              <a:solidFill>
                <a:schemeClr val="tx1"/>
              </a:solidFill>
            </a:endParaRPr>
          </a:p>
          <a:p>
            <a:pPr algn="ctr"/>
            <a:r>
              <a:rPr lang="en-GB" sz="3600" b="1" dirty="0">
                <a:solidFill>
                  <a:schemeClr val="tx1"/>
                </a:solidFill>
              </a:rPr>
              <a:t>Genetic Algorithm: </a:t>
            </a:r>
            <a:r>
              <a:rPr lang="en-GB" sz="3200" dirty="0">
                <a:solidFill>
                  <a:schemeClr val="tx1"/>
                </a:solidFill>
              </a:rPr>
              <a:t>A type of algorithm that approximates a solution to a complex problem. They act like evolution, where the better the potential solution, the more likely it is to influence the next generation. </a:t>
            </a:r>
          </a:p>
          <a:p>
            <a:pPr algn="ctr"/>
            <a:r>
              <a:rPr lang="en-GB" sz="3600" b="1" dirty="0">
                <a:solidFill>
                  <a:schemeClr val="tx1"/>
                </a:solidFill>
              </a:rPr>
              <a:t>CFD: </a:t>
            </a:r>
            <a:r>
              <a:rPr lang="en-GB" sz="3200" dirty="0">
                <a:solidFill>
                  <a:schemeClr val="tx1"/>
                </a:solidFill>
              </a:rPr>
              <a:t>Computation Fluid Dynamics – Using complex computer programs to simulate the flow of fluids around and through a system. </a:t>
            </a:r>
            <a:endParaRPr lang="en-GB" sz="3200" dirty="0">
              <a:solidFill>
                <a:srgbClr val="00006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958308-C162-DFF6-A572-EA8A23A9BD87}"/>
              </a:ext>
            </a:extLst>
          </p:cNvPr>
          <p:cNvSpPr/>
          <p:nvPr/>
        </p:nvSpPr>
        <p:spPr>
          <a:xfrm>
            <a:off x="0" y="25228013"/>
            <a:ext cx="16220286" cy="50472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800" b="1" u="sng" dirty="0">
                <a:solidFill>
                  <a:schemeClr val="tx1"/>
                </a:solidFill>
              </a:rPr>
              <a:t>Conclusion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tx1"/>
                </a:solidFill>
              </a:rPr>
              <a:t>Genetic algorithms are useful to discover if there are any bugs in a solver as they </a:t>
            </a:r>
            <a:r>
              <a:rPr lang="en-GB" sz="3200" i="1" dirty="0">
                <a:solidFill>
                  <a:schemeClr val="tx1"/>
                </a:solidFill>
              </a:rPr>
              <a:t>will</a:t>
            </a:r>
            <a:r>
              <a:rPr lang="en-GB" sz="3200" dirty="0">
                <a:solidFill>
                  <a:schemeClr val="tx1"/>
                </a:solidFill>
              </a:rPr>
              <a:t> find and exploit them if there are any.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tx1"/>
                </a:solidFill>
              </a:rPr>
              <a:t>If the system is properly constrained, like </a:t>
            </a:r>
            <a:r>
              <a:rPr lang="en-GB" sz="3200" b="1" dirty="0">
                <a:solidFill>
                  <a:schemeClr val="tx1"/>
                </a:solidFill>
              </a:rPr>
              <a:t>Study 3</a:t>
            </a:r>
            <a:r>
              <a:rPr lang="en-GB" sz="3200" dirty="0">
                <a:solidFill>
                  <a:schemeClr val="tx1"/>
                </a:solidFill>
              </a:rPr>
              <a:t>, then genetic algorithms can produce a near-perfect result.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tx1"/>
                </a:solidFill>
              </a:rPr>
              <a:t>If left to run for long enough then genetic algorithms will stop producing accurate results as the solver won’t give a higher result.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tx1"/>
              </a:solidFill>
            </a:endParaRPr>
          </a:p>
          <a:p>
            <a:pPr algn="r"/>
            <a:r>
              <a:rPr lang="en-GB" sz="3600" b="1" dirty="0">
                <a:solidFill>
                  <a:schemeClr val="tx1"/>
                </a:solidFill>
              </a:rPr>
              <a:t>Scan to see all the code I used to make this ➔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742E6D-7842-9FD1-6059-B3D1654511A8}"/>
              </a:ext>
            </a:extLst>
          </p:cNvPr>
          <p:cNvSpPr/>
          <p:nvPr/>
        </p:nvSpPr>
        <p:spPr>
          <a:xfrm>
            <a:off x="-1" y="8409600"/>
            <a:ext cx="10690875" cy="840741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800" b="1" u="sng" dirty="0">
                <a:solidFill>
                  <a:schemeClr val="tx1"/>
                </a:solidFill>
              </a:rPr>
              <a:t>Study 1</a:t>
            </a: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3200" b="1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</a:rPr>
              <a:t>In my first test, I started with a population of random points, and combined the individual points, usually with a bit of mutation. It clearly hasn’t worked.</a:t>
            </a: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r>
              <a:rPr lang="en-GB" sz="3200" b="1" dirty="0">
                <a:solidFill>
                  <a:schemeClr val="tx1"/>
                </a:solidFill>
              </a:rPr>
              <a:t>                                                                       More details</a:t>
            </a:r>
            <a:r>
              <a:rPr lang="en-GB" sz="3200" dirty="0"/>
              <a:t> </a:t>
            </a:r>
            <a:r>
              <a:rPr lang="en-GB" sz="3200" dirty="0">
                <a:solidFill>
                  <a:schemeClr val="tx1"/>
                </a:solidFill>
              </a:rPr>
              <a:t>⬆</a:t>
            </a:r>
            <a:endParaRPr lang="en-GB" sz="320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6AB3D2-89CD-7C39-ECB7-61E8F5311DF9}"/>
              </a:ext>
            </a:extLst>
          </p:cNvPr>
          <p:cNvSpPr/>
          <p:nvPr/>
        </p:nvSpPr>
        <p:spPr>
          <a:xfrm>
            <a:off x="-377" y="16817010"/>
            <a:ext cx="10692001" cy="84110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800" b="1" u="sng" dirty="0">
                <a:solidFill>
                  <a:schemeClr val="tx1"/>
                </a:solidFill>
              </a:rPr>
              <a:t>Study 3</a:t>
            </a: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</a:rPr>
              <a:t>In my third test, I started with NACA 4-digit airfoils, but combined them by averaging the maximum camber deviation, location and thickness of the airfoils.</a:t>
            </a: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r>
              <a:rPr lang="en-GB" sz="3200" b="1" dirty="0">
                <a:solidFill>
                  <a:schemeClr val="tx1"/>
                </a:solidFill>
              </a:rPr>
              <a:t>                                                                       More details</a:t>
            </a:r>
            <a:r>
              <a:rPr lang="en-GB" sz="3200" dirty="0"/>
              <a:t> </a:t>
            </a:r>
            <a:r>
              <a:rPr lang="en-GB" sz="3200" dirty="0">
                <a:solidFill>
                  <a:schemeClr val="tx1"/>
                </a:solidFill>
              </a:rPr>
              <a:t>⬆</a:t>
            </a:r>
            <a:endParaRPr lang="en-GB" sz="3200" b="1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957BA5-AD3C-A113-4FBB-B968D0274037}"/>
              </a:ext>
            </a:extLst>
          </p:cNvPr>
          <p:cNvSpPr/>
          <p:nvPr/>
        </p:nvSpPr>
        <p:spPr>
          <a:xfrm>
            <a:off x="10691625" y="8409599"/>
            <a:ext cx="10692000" cy="840741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800" b="1" u="sng" dirty="0">
                <a:solidFill>
                  <a:schemeClr val="tx1"/>
                </a:solidFill>
              </a:rPr>
              <a:t>Study 2</a:t>
            </a: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3200" b="1" dirty="0">
              <a:solidFill>
                <a:schemeClr val="tx1"/>
              </a:solidFill>
            </a:endParaRPr>
          </a:p>
          <a:p>
            <a:pPr algn="ctr"/>
            <a:endParaRPr lang="en-GB" sz="3200" b="1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</a:rPr>
              <a:t>In my  second test, I started with a population of NACA 4-digit airfoils, then combined them in the same way as test 1. This worked a lot better, but there is still a bit of bumpiness because the solver isn’t perfect.</a:t>
            </a: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endParaRPr lang="en-GB" sz="1100" dirty="0">
              <a:solidFill>
                <a:schemeClr val="tx1"/>
              </a:solidFill>
            </a:endParaRPr>
          </a:p>
          <a:p>
            <a:r>
              <a:rPr lang="en-GB" sz="3200" dirty="0">
                <a:solidFill>
                  <a:schemeClr val="tx1"/>
                </a:solidFill>
              </a:rPr>
              <a:t>        ⬆ </a:t>
            </a:r>
            <a:r>
              <a:rPr lang="en-GB" sz="3200" b="1" dirty="0">
                <a:solidFill>
                  <a:schemeClr val="tx1"/>
                </a:solidFill>
              </a:rPr>
              <a:t>More details                        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CF9AA4-1DBE-259E-43F6-CD7EE99273D9}"/>
              </a:ext>
            </a:extLst>
          </p:cNvPr>
          <p:cNvSpPr/>
          <p:nvPr/>
        </p:nvSpPr>
        <p:spPr>
          <a:xfrm>
            <a:off x="10691625" y="16817010"/>
            <a:ext cx="10691625" cy="84110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800" b="1" u="sng" dirty="0">
                <a:solidFill>
                  <a:schemeClr val="tx1"/>
                </a:solidFill>
              </a:rPr>
              <a:t>Study 4</a:t>
            </a: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4800" b="1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</a:rPr>
              <a:t>In this test, I recorded the maximum, mean and minimum scores of all airfoils in the population. I did the same test as </a:t>
            </a:r>
            <a:r>
              <a:rPr lang="en-GB" sz="3200" b="1" dirty="0">
                <a:solidFill>
                  <a:schemeClr val="tx1"/>
                </a:solidFill>
              </a:rPr>
              <a:t>Study 3, </a:t>
            </a:r>
            <a:r>
              <a:rPr lang="en-GB" sz="3200" dirty="0">
                <a:solidFill>
                  <a:schemeClr val="tx1"/>
                </a:solidFill>
              </a:rPr>
              <a:t>but I plotted how the L/D changed as the generations progressed.</a:t>
            </a:r>
            <a:endParaRPr lang="en-GB" sz="48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endParaRPr lang="en-GB" sz="1100" dirty="0">
              <a:solidFill>
                <a:schemeClr val="tx1"/>
              </a:solidFill>
            </a:endParaRPr>
          </a:p>
          <a:p>
            <a:endParaRPr lang="en-GB" sz="3200" dirty="0">
              <a:solidFill>
                <a:schemeClr val="tx1"/>
              </a:solidFill>
            </a:endParaRPr>
          </a:p>
          <a:p>
            <a:endParaRPr lang="en-GB" sz="3200" dirty="0">
              <a:solidFill>
                <a:schemeClr val="tx1"/>
              </a:solidFill>
            </a:endParaRPr>
          </a:p>
          <a:p>
            <a:r>
              <a:rPr lang="en-GB" sz="3200" dirty="0">
                <a:solidFill>
                  <a:schemeClr val="tx1"/>
                </a:solidFill>
              </a:rPr>
              <a:t>        ⬆ </a:t>
            </a:r>
            <a:r>
              <a:rPr lang="en-GB" sz="3200" b="1" dirty="0">
                <a:solidFill>
                  <a:schemeClr val="tx1"/>
                </a:solidFill>
              </a:rPr>
              <a:t>More details                        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73EB1F-7697-7E48-BF5B-264A9B033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25" y="9419970"/>
            <a:ext cx="9000000" cy="30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D60593-7D43-2578-ECE7-935A8A7B4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099350"/>
              </p:ext>
            </p:extLst>
          </p:nvPr>
        </p:nvGraphicFramePr>
        <p:xfrm>
          <a:off x="208799" y="14438322"/>
          <a:ext cx="7613403" cy="18894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6300">
                  <a:extLst>
                    <a:ext uri="{9D8B030D-6E8A-4147-A177-3AD203B41FA5}">
                      <a16:colId xmlns:a16="http://schemas.microsoft.com/office/drawing/2014/main" val="2133764629"/>
                    </a:ext>
                  </a:extLst>
                </a:gridCol>
                <a:gridCol w="4407103">
                  <a:extLst>
                    <a:ext uri="{9D8B030D-6E8A-4147-A177-3AD203B41FA5}">
                      <a16:colId xmlns:a16="http://schemas.microsoft.com/office/drawing/2014/main" val="4273261678"/>
                    </a:ext>
                  </a:extLst>
                </a:gridCol>
              </a:tblGrid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Starting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Random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43144"/>
                  </a:ext>
                </a:extLst>
              </a:tr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Averaging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733293"/>
                  </a:ext>
                </a:extLst>
              </a:tr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L/D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Infinity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64381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968B8E-E4C1-A731-0FE7-1B993DA48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804710"/>
              </p:ext>
            </p:extLst>
          </p:nvPr>
        </p:nvGraphicFramePr>
        <p:xfrm>
          <a:off x="13440059" y="14438321"/>
          <a:ext cx="7613403" cy="18894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6300">
                  <a:extLst>
                    <a:ext uri="{9D8B030D-6E8A-4147-A177-3AD203B41FA5}">
                      <a16:colId xmlns:a16="http://schemas.microsoft.com/office/drawing/2014/main" val="2133764629"/>
                    </a:ext>
                  </a:extLst>
                </a:gridCol>
                <a:gridCol w="4407103">
                  <a:extLst>
                    <a:ext uri="{9D8B030D-6E8A-4147-A177-3AD203B41FA5}">
                      <a16:colId xmlns:a16="http://schemas.microsoft.com/office/drawing/2014/main" val="4273261678"/>
                    </a:ext>
                  </a:extLst>
                </a:gridCol>
              </a:tblGrid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Starting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Airfoils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43144"/>
                  </a:ext>
                </a:extLst>
              </a:tr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Averaging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733293"/>
                  </a:ext>
                </a:extLst>
              </a:tr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L/D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494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64381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D77ECB-5397-710E-63F4-DB448CC36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290604"/>
              </p:ext>
            </p:extLst>
          </p:nvPr>
        </p:nvGraphicFramePr>
        <p:xfrm>
          <a:off x="209549" y="22845731"/>
          <a:ext cx="7612653" cy="18894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91325">
                  <a:extLst>
                    <a:ext uri="{9D8B030D-6E8A-4147-A177-3AD203B41FA5}">
                      <a16:colId xmlns:a16="http://schemas.microsoft.com/office/drawing/2014/main" val="2133764629"/>
                    </a:ext>
                  </a:extLst>
                </a:gridCol>
                <a:gridCol w="4821328">
                  <a:extLst>
                    <a:ext uri="{9D8B030D-6E8A-4147-A177-3AD203B41FA5}">
                      <a16:colId xmlns:a16="http://schemas.microsoft.com/office/drawing/2014/main" val="4273261678"/>
                    </a:ext>
                  </a:extLst>
                </a:gridCol>
              </a:tblGrid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Starting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Airfoils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43144"/>
                  </a:ext>
                </a:extLst>
              </a:tr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Average parameters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733293"/>
                  </a:ext>
                </a:extLst>
              </a:tr>
              <a:tr h="629817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L/D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643817"/>
                  </a:ext>
                </a:extLst>
              </a:tr>
            </a:tbl>
          </a:graphicData>
        </a:graphic>
      </p:graphicFrame>
      <p:pic>
        <p:nvPicPr>
          <p:cNvPr id="1036" name="Picture 12">
            <a:extLst>
              <a:ext uri="{FF2B5EF4-FFF2-40B4-BE49-F238E27FC236}">
                <a16:creationId xmlns:a16="http://schemas.microsoft.com/office/drawing/2014/main" id="{8480AFFA-5414-E451-F9F6-B414EEA2F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9018" y="25608488"/>
            <a:ext cx="4286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points.png">
            <a:extLst>
              <a:ext uri="{FF2B5EF4-FFF2-40B4-BE49-F238E27FC236}">
                <a16:creationId xmlns:a16="http://schemas.microsoft.com/office/drawing/2014/main" id="{1FDC10CA-218A-215F-9694-D3920F58F1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36311" y="9419970"/>
            <a:ext cx="9000000" cy="300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17AA5DA-5A66-A47D-D195-1C96A0378EDD}"/>
              </a:ext>
            </a:extLst>
          </p:cNvPr>
          <p:cNvSpPr/>
          <p:nvPr/>
        </p:nvSpPr>
        <p:spPr>
          <a:xfrm>
            <a:off x="15718970" y="3360604"/>
            <a:ext cx="5665029" cy="50472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800" b="1" u="sng" dirty="0">
                <a:solidFill>
                  <a:schemeClr val="tx1"/>
                </a:solidFill>
              </a:rPr>
              <a:t>Parameters</a:t>
            </a:r>
            <a:endParaRPr lang="en-GB" sz="3200" dirty="0">
              <a:solidFill>
                <a:schemeClr val="tx1"/>
              </a:solidFill>
            </a:endParaRPr>
          </a:p>
          <a:p>
            <a:pPr algn="ctr"/>
            <a:endParaRPr lang="en-GB" sz="3200" dirty="0">
              <a:solidFill>
                <a:srgbClr val="000066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DA8E00B-92D1-F108-BFDA-D2904E18A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405096"/>
              </p:ext>
            </p:extLst>
          </p:nvPr>
        </p:nvGraphicFramePr>
        <p:xfrm>
          <a:off x="15904851" y="4202580"/>
          <a:ext cx="5293266" cy="3962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46633">
                  <a:extLst>
                    <a:ext uri="{9D8B030D-6E8A-4147-A177-3AD203B41FA5}">
                      <a16:colId xmlns:a16="http://schemas.microsoft.com/office/drawing/2014/main" val="60010660"/>
                    </a:ext>
                  </a:extLst>
                </a:gridCol>
                <a:gridCol w="2646633">
                  <a:extLst>
                    <a:ext uri="{9D8B030D-6E8A-4147-A177-3AD203B41FA5}">
                      <a16:colId xmlns:a16="http://schemas.microsoft.com/office/drawing/2014/main" val="693575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Population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10,000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3700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Mutation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338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Elites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16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Generations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1750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07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Selection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Top half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500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Fitness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Lift over drag (L/D)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3001415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71C4372-4B81-76B8-9A6F-A98E6A071637}"/>
              </a:ext>
            </a:extLst>
          </p:cNvPr>
          <p:cNvSpPr/>
          <p:nvPr/>
        </p:nvSpPr>
        <p:spPr>
          <a:xfrm>
            <a:off x="-2897" y="3360604"/>
            <a:ext cx="5665028" cy="50472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800" b="1" u="sng" dirty="0">
                <a:solidFill>
                  <a:schemeClr val="tx1"/>
                </a:solidFill>
              </a:rPr>
              <a:t>Aim</a:t>
            </a:r>
            <a:endParaRPr lang="en-GB" sz="1600" b="1" dirty="0">
              <a:solidFill>
                <a:schemeClr val="tx1"/>
              </a:solidFill>
            </a:endParaRPr>
          </a:p>
          <a:p>
            <a:pPr algn="ctr"/>
            <a:r>
              <a:rPr lang="en-GB" sz="3200" dirty="0">
                <a:solidFill>
                  <a:schemeClr val="tx1"/>
                </a:solidFill>
              </a:rPr>
              <a:t>To explore the use of genetic algorithms to speed up airfoil design, and how they can help the most. I tested 3 different optimization methods, each altering different factors, and recorded the progress through generations.</a:t>
            </a:r>
            <a:endParaRPr lang="en-GB" sz="320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707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420</Words>
  <Application>Microsoft Office PowerPoint</Application>
  <PresentationFormat>Custom</PresentationFormat>
  <Paragraphs>99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Bell (Student Silverdale School)</dc:creator>
  <cp:lastModifiedBy>Lianna Bell</cp:lastModifiedBy>
  <cp:revision>4</cp:revision>
  <dcterms:created xsi:type="dcterms:W3CDTF">2026-06-17T15:04:32Z</dcterms:created>
  <dcterms:modified xsi:type="dcterms:W3CDTF">2026-06-24T20:03:52Z</dcterms:modified>
</cp:coreProperties>
</file>